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 Bold" charset="1" panose="020B0704020202020204"/>
      <p:regular r:id="rId22"/>
    </p:embeddedFont>
    <p:embeddedFont>
      <p:font typeface="Arimo" charset="1" panose="020B0604020202020204"/>
      <p:regular r:id="rId23"/>
    </p:embeddedFont>
    <p:embeddedFont>
      <p:font typeface="Arimo Italics" charset="1" panose="020B060402020209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10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7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jpeg" Type="http://schemas.openxmlformats.org/officeDocument/2006/relationships/image"/><Relationship Id="rId6" Target="../media/image18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8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8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33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8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5879306" y="5924847"/>
            <a:ext cx="6529388" cy="1042988"/>
            <a:chOff x="0" y="0"/>
            <a:chExt cx="8705850" cy="13906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705850" cy="1390650"/>
            </a:xfrm>
            <a:custGeom>
              <a:avLst/>
              <a:gdLst/>
              <a:ahLst/>
              <a:cxnLst/>
              <a:rect r="r" b="b" t="t" l="l"/>
              <a:pathLst>
                <a:path h="1390650" w="8705850">
                  <a:moveTo>
                    <a:pt x="0" y="0"/>
                  </a:moveTo>
                  <a:lnTo>
                    <a:pt x="8705850" y="0"/>
                  </a:lnTo>
                  <a:lnTo>
                    <a:pt x="8705850" y="1390650"/>
                  </a:lnTo>
                  <a:lnTo>
                    <a:pt x="0" y="139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14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0788" y="8197241"/>
            <a:ext cx="7315200" cy="2017718"/>
          </a:xfrm>
          <a:custGeom>
            <a:avLst/>
            <a:gdLst/>
            <a:ahLst/>
            <a:cxnLst/>
            <a:rect r="r" b="b" t="t" l="l"/>
            <a:pathLst>
              <a:path h="2017718" w="7315200">
                <a:moveTo>
                  <a:pt x="0" y="0"/>
                </a:moveTo>
                <a:lnTo>
                  <a:pt x="7315200" y="0"/>
                </a:lnTo>
                <a:lnTo>
                  <a:pt x="7315200" y="2017717"/>
                </a:lnTo>
                <a:lnTo>
                  <a:pt x="0" y="2017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87910" y="7880995"/>
            <a:ext cx="2556916" cy="2383994"/>
          </a:xfrm>
          <a:custGeom>
            <a:avLst/>
            <a:gdLst/>
            <a:ahLst/>
            <a:cxnLst/>
            <a:rect r="r" b="b" t="t" l="l"/>
            <a:pathLst>
              <a:path h="2383994" w="2556916">
                <a:moveTo>
                  <a:pt x="0" y="0"/>
                </a:moveTo>
                <a:lnTo>
                  <a:pt x="2556916" y="0"/>
                </a:lnTo>
                <a:lnTo>
                  <a:pt x="2556916" y="2383993"/>
                </a:lnTo>
                <a:lnTo>
                  <a:pt x="0" y="23839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50115" y="8136443"/>
            <a:ext cx="3583118" cy="2015504"/>
          </a:xfrm>
          <a:custGeom>
            <a:avLst/>
            <a:gdLst/>
            <a:ahLst/>
            <a:cxnLst/>
            <a:rect r="r" b="b" t="t" l="l"/>
            <a:pathLst>
              <a:path h="2015504" w="3583118">
                <a:moveTo>
                  <a:pt x="0" y="0"/>
                </a:moveTo>
                <a:lnTo>
                  <a:pt x="3583118" y="0"/>
                </a:lnTo>
                <a:lnTo>
                  <a:pt x="3583118" y="2015504"/>
                </a:lnTo>
                <a:lnTo>
                  <a:pt x="0" y="20155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3670" y="2749001"/>
            <a:ext cx="7180659" cy="177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1"/>
              </a:lnSpc>
            </a:pPr>
            <a:r>
              <a:rPr lang="en-US" b="true" sz="10599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PitchSwipe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79306" y="4345781"/>
            <a:ext cx="652938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Reimagined Investing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79306" y="6339184"/>
            <a:ext cx="652938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2250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Video-First Discovery. AI-Powered. Saudi-Focused.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00250" y="3758653"/>
            <a:ext cx="14287500" cy="20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b="true" sz="5400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Today, investors are </a:t>
            </a:r>
            <a:r>
              <a:rPr lang="en-US" b="true" sz="5400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drowning in information</a:t>
            </a:r>
            <a:r>
              <a:rPr lang="en-US" b="true" sz="5400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 but starving for relevance.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000250" y="3263354"/>
            <a:ext cx="1014412" cy="1143000"/>
            <a:chOff x="0" y="0"/>
            <a:chExt cx="1352550" cy="1524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35255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352550">
                  <a:moveTo>
                    <a:pt x="0" y="0"/>
                  </a:moveTo>
                  <a:lnTo>
                    <a:pt x="1352550" y="0"/>
                  </a:lnTo>
                  <a:lnTo>
                    <a:pt x="135255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25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00250" y="6017715"/>
            <a:ext cx="14287500" cy="74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Traditional platforms give you data, but they don't help you feel which startup is the right fit.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9359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71438" cy="828675"/>
            <a:chOff x="0" y="0"/>
            <a:chExt cx="95250" cy="1104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0B98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898361" y="2791425"/>
            <a:ext cx="8825628" cy="3673668"/>
          </a:xfrm>
          <a:custGeom>
            <a:avLst/>
            <a:gdLst/>
            <a:ahLst/>
            <a:cxnLst/>
            <a:rect r="r" b="b" t="t" l="l"/>
            <a:pathLst>
              <a:path h="3673668" w="8825628">
                <a:moveTo>
                  <a:pt x="0" y="0"/>
                </a:moveTo>
                <a:lnTo>
                  <a:pt x="8825628" y="0"/>
                </a:lnTo>
                <a:lnTo>
                  <a:pt x="8825628" y="3673668"/>
                </a:lnTo>
                <a:lnTo>
                  <a:pt x="0" y="3673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7250" y="3259930"/>
            <a:ext cx="825103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Stuck in 2010 UX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3879055"/>
            <a:ext cx="785812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Traditional investment platforms were built for analysts, not humans. They assume people want to read long PDFs and dig through static spreadsheets.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5960268"/>
            <a:ext cx="825103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How We Consume Today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6579393"/>
            <a:ext cx="785812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Young investors explore through </a:t>
            </a:r>
            <a:r>
              <a:rPr lang="en-US" b="true" sz="2250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video, visuals, and personalization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 This is how they discover products, creators, and careers.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50" y="828675"/>
            <a:ext cx="1704213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Generational Shift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06155" y="43766"/>
            <a:ext cx="7051402" cy="10287000"/>
          </a:xfrm>
          <a:custGeom>
            <a:avLst/>
            <a:gdLst/>
            <a:ahLst/>
            <a:cxnLst/>
            <a:rect r="r" b="b" t="t" l="l"/>
            <a:pathLst>
              <a:path h="10287000" w="7051402">
                <a:moveTo>
                  <a:pt x="0" y="0"/>
                </a:moveTo>
                <a:lnTo>
                  <a:pt x="7051402" y="0"/>
                </a:lnTo>
                <a:lnTo>
                  <a:pt x="7051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1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7250" y="1828800"/>
            <a:ext cx="780097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Redesigned for Humans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3238500"/>
            <a:ext cx="78009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Video-First Investing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4086225"/>
            <a:ext cx="74295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We asked: What if discovering a startup felt as intuitive as scrolling TikTok?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5572125"/>
            <a:ext cx="742950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Founders pitch through short vertical videos—a medium that communicates passion and authenticity in a way no PDF ever could.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7515225"/>
            <a:ext cx="74295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Simple. Visual. Deep.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57250" y="3760513"/>
            <a:ext cx="5238823" cy="4166145"/>
            <a:chOff x="0" y="0"/>
            <a:chExt cx="6985098" cy="555486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524698" y="3760513"/>
            <a:ext cx="5238823" cy="4166145"/>
            <a:chOff x="0" y="0"/>
            <a:chExt cx="6985098" cy="555486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22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192148" y="3760513"/>
            <a:ext cx="5238823" cy="4166145"/>
            <a:chOff x="0" y="0"/>
            <a:chExt cx="6985098" cy="555486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2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91338" y="5498826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Swipe Left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162" y="6117951"/>
            <a:ext cx="4352998" cy="92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To pass on opportunities that don't match your intrest.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786" y="5498826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Swipe Down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7611" y="6117951"/>
            <a:ext cx="4352998" cy="44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Discover a different video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26236" y="5498826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Swipe Right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5061" y="6117951"/>
            <a:ext cx="4352998" cy="141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To instantly unlock deeper details of the company you like and quickly invest.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3176512" y="4403451"/>
            <a:ext cx="600075" cy="685800"/>
            <a:chOff x="0" y="0"/>
            <a:chExt cx="8001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80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91" b="0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8886825" y="4403451"/>
            <a:ext cx="514350" cy="685800"/>
            <a:chOff x="0" y="0"/>
            <a:chExt cx="6858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85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680" b="0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4511411" y="4403451"/>
            <a:ext cx="600075" cy="685800"/>
            <a:chOff x="0" y="0"/>
            <a:chExt cx="800100" cy="914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80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9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0150" y="828675"/>
            <a:ext cx="1704213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Intuitive Discovery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250" y="857250"/>
            <a:ext cx="71438" cy="828675"/>
            <a:chOff x="0" y="0"/>
            <a:chExt cx="95250" cy="1104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0B98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71438" cy="828675"/>
            <a:chOff x="0" y="0"/>
            <a:chExt cx="95250" cy="1104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0B98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572625" y="5800725"/>
            <a:ext cx="257175" cy="300038"/>
            <a:chOff x="0" y="0"/>
            <a:chExt cx="342900" cy="400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572625" y="6486525"/>
            <a:ext cx="257175" cy="300038"/>
            <a:chOff x="0" y="0"/>
            <a:chExt cx="34290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572625" y="7172325"/>
            <a:ext cx="257175" cy="300038"/>
            <a:chOff x="0" y="0"/>
            <a:chExt cx="34290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82824" y="2625493"/>
            <a:ext cx="6922652" cy="5840987"/>
          </a:xfrm>
          <a:custGeom>
            <a:avLst/>
            <a:gdLst/>
            <a:ahLst/>
            <a:cxnLst/>
            <a:rect r="r" b="b" t="t" l="l"/>
            <a:pathLst>
              <a:path h="5840987" w="6922652">
                <a:moveTo>
                  <a:pt x="0" y="0"/>
                </a:moveTo>
                <a:lnTo>
                  <a:pt x="6922651" y="0"/>
                </a:lnTo>
                <a:lnTo>
                  <a:pt x="6922651" y="5840988"/>
                </a:lnTo>
                <a:lnTo>
                  <a:pt x="0" y="5840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572625" y="3352800"/>
            <a:ext cx="825103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Behavioral-Finance Personalization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2625" y="3971925"/>
            <a:ext cx="7858125" cy="159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Every interaction trains our investment brain. When you swipe, watch, or skip, we update your </a:t>
            </a:r>
            <a:r>
              <a:rPr lang="en-US" b="true" sz="2250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preference vector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in real time.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29825" y="5629275"/>
            <a:ext cx="74009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Learns from watch time and engagement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48875" y="6315075"/>
            <a:ext cx="74009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Prioritizes domains you care 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29825" y="7000875"/>
            <a:ext cx="7793831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People don't know what they want; their behavior reveals 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0150" y="828675"/>
            <a:ext cx="1704213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Vector Engine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905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57250" y="3760513"/>
            <a:ext cx="5238823" cy="4166145"/>
            <a:chOff x="0" y="0"/>
            <a:chExt cx="6985098" cy="555486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524698" y="3760513"/>
            <a:ext cx="5238823" cy="4166145"/>
            <a:chOff x="0" y="0"/>
            <a:chExt cx="6985098" cy="555486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22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192148" y="3760513"/>
            <a:ext cx="5238823" cy="4166145"/>
            <a:chOff x="0" y="0"/>
            <a:chExt cx="6985098" cy="555486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22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619653" y="4472017"/>
            <a:ext cx="857250" cy="685800"/>
            <a:chOff x="0" y="0"/>
            <a:chExt cx="1143000" cy="914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143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09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468548" y="4403451"/>
            <a:ext cx="685800" cy="685800"/>
            <a:chOff x="0" y="0"/>
            <a:chExt cx="914400" cy="914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857250"/>
            <a:ext cx="71438" cy="828675"/>
            <a:chOff x="0" y="0"/>
            <a:chExt cx="95250" cy="1104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0B98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978571" y="4257275"/>
            <a:ext cx="832259" cy="924732"/>
          </a:xfrm>
          <a:custGeom>
            <a:avLst/>
            <a:gdLst/>
            <a:ahLst/>
            <a:cxnLst/>
            <a:rect r="r" b="b" t="t" l="l"/>
            <a:pathLst>
              <a:path h="924732" w="832259">
                <a:moveTo>
                  <a:pt x="0" y="0"/>
                </a:moveTo>
                <a:lnTo>
                  <a:pt x="832258" y="0"/>
                </a:lnTo>
                <a:lnTo>
                  <a:pt x="832258" y="924731"/>
                </a:lnTo>
                <a:lnTo>
                  <a:pt x="0" y="9247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83687" y="4298491"/>
            <a:ext cx="1019035" cy="952864"/>
          </a:xfrm>
          <a:custGeom>
            <a:avLst/>
            <a:gdLst/>
            <a:ahLst/>
            <a:cxnLst/>
            <a:rect r="r" b="b" t="t" l="l"/>
            <a:pathLst>
              <a:path h="952864" w="1019035">
                <a:moveTo>
                  <a:pt x="0" y="0"/>
                </a:moveTo>
                <a:lnTo>
                  <a:pt x="1019035" y="0"/>
                </a:lnTo>
                <a:lnTo>
                  <a:pt x="1019035" y="952863"/>
                </a:lnTo>
                <a:lnTo>
                  <a:pt x="0" y="952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619653" y="4419896"/>
            <a:ext cx="918155" cy="790041"/>
          </a:xfrm>
          <a:custGeom>
            <a:avLst/>
            <a:gdLst/>
            <a:ahLst/>
            <a:cxnLst/>
            <a:rect r="r" b="b" t="t" l="l"/>
            <a:pathLst>
              <a:path h="790041" w="918155">
                <a:moveTo>
                  <a:pt x="0" y="0"/>
                </a:moveTo>
                <a:lnTo>
                  <a:pt x="918155" y="0"/>
                </a:lnTo>
                <a:lnTo>
                  <a:pt x="918155" y="790041"/>
                </a:lnTo>
                <a:lnTo>
                  <a:pt x="0" y="7900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50987" y="5498826"/>
            <a:ext cx="285134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 spc="-63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Retail I</a:t>
            </a:r>
            <a:r>
              <a:rPr lang="en-US" b="true" sz="3150" spc="-63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nvestors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00162" y="6117951"/>
            <a:ext cx="4352998" cy="92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Access</a:t>
            </a: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ible entry point for individuals and micro-investors.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44630" y="5498826"/>
            <a:ext cx="2798961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 spc="-63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High N</a:t>
            </a:r>
            <a:r>
              <a:rPr lang="en-US" b="true" sz="3150" spc="-63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et Worth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967611" y="6117951"/>
            <a:ext cx="4352998" cy="190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Advan</a:t>
            </a: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ced tools for accredited investors and family offices.</a:t>
            </a:r>
          </a:p>
          <a:p>
            <a:pPr algn="ctr">
              <a:lnSpc>
                <a:spcPts val="3887"/>
              </a:lnSpc>
            </a:pPr>
          </a:p>
          <a:p>
            <a:pPr algn="ctr">
              <a:lnSpc>
                <a:spcPts val="388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781769" y="5498826"/>
            <a:ext cx="205958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 spc="-63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Ins</a:t>
            </a:r>
            <a:r>
              <a:rPr lang="en-US" b="true" sz="3150" spc="-63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titutions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635061" y="6117951"/>
            <a:ext cx="4352998" cy="92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All startups and small businesses can benefit and enlist in the app.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0150" y="828675"/>
            <a:ext cx="11020127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08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Target A</a:t>
            </a:r>
            <a:r>
              <a:rPr lang="en-US" b="true" sz="5400" spc="-108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udience: Universal Access</a:t>
            </a:r>
          </a:p>
          <a:p>
            <a:pPr algn="l">
              <a:lnSpc>
                <a:spcPts val="6480"/>
              </a:lnSpc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572625" y="2986088"/>
            <a:ext cx="7858125" cy="5715000"/>
            <a:chOff x="0" y="0"/>
            <a:chExt cx="104775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915400" y="2355706"/>
            <a:ext cx="9084294" cy="6606759"/>
            <a:chOff x="0" y="0"/>
            <a:chExt cx="10477500" cy="762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7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502" t="0" r="-1150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857250"/>
            <a:ext cx="71438" cy="828675"/>
            <a:chOff x="0" y="0"/>
            <a:chExt cx="95250" cy="1104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0B98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57250" y="5457825"/>
            <a:ext cx="257175" cy="300038"/>
            <a:chOff x="0" y="0"/>
            <a:chExt cx="34290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857250" y="6143625"/>
            <a:ext cx="257175" cy="300038"/>
            <a:chOff x="0" y="0"/>
            <a:chExt cx="342900" cy="400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857250" y="7414260"/>
            <a:ext cx="257175" cy="300038"/>
            <a:chOff x="0" y="0"/>
            <a:chExt cx="342900" cy="400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57250" y="3467100"/>
            <a:ext cx="825103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A Trust Mechanism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4086225"/>
            <a:ext cx="7858125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On every swipe right, the company’s profile instantly opens. This solves three major problems at once: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4450" y="5286375"/>
            <a:ext cx="7793831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Privacy: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Founders can contact investors who swiped right.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4450" y="5972175"/>
            <a:ext cx="7400925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Engagement: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Investors are get to see data as soon as they display interest.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4450" y="7242810"/>
            <a:ext cx="7400925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Conversion: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Friction disappears and investments are streamlines.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0150" y="828675"/>
            <a:ext cx="990798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Company’s Profile Unlock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001250" y="5715000"/>
            <a:ext cx="257175" cy="300038"/>
            <a:chOff x="0" y="0"/>
            <a:chExt cx="34290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001250" y="6400800"/>
            <a:ext cx="257175" cy="300038"/>
            <a:chOff x="0" y="0"/>
            <a:chExt cx="342900" cy="400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001250" y="7086600"/>
            <a:ext cx="257175" cy="300038"/>
            <a:chOff x="0" y="0"/>
            <a:chExt cx="34290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001250" y="7772400"/>
            <a:ext cx="257175" cy="300038"/>
            <a:chOff x="0" y="0"/>
            <a:chExt cx="34290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3299" y="0"/>
            <a:ext cx="7496775" cy="10211330"/>
          </a:xfrm>
          <a:custGeom>
            <a:avLst/>
            <a:gdLst/>
            <a:ahLst/>
            <a:cxnLst/>
            <a:rect r="r" b="b" t="t" l="l"/>
            <a:pathLst>
              <a:path h="10211330" w="7496775">
                <a:moveTo>
                  <a:pt x="0" y="0"/>
                </a:moveTo>
                <a:lnTo>
                  <a:pt x="7496775" y="0"/>
                </a:lnTo>
                <a:lnTo>
                  <a:pt x="7496775" y="10211330"/>
                </a:lnTo>
                <a:lnTo>
                  <a:pt x="0" y="10211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15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01250" y="1800225"/>
            <a:ext cx="780097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Why Saudi Arabia?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01250" y="3209925"/>
            <a:ext cx="78009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Built for Vision 2030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1250" y="4057650"/>
            <a:ext cx="74295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PitchSwipe isn't just made for the Saudi market—it's made </a:t>
            </a:r>
            <a:r>
              <a:rPr lang="en-US" sz="2250" i="true">
                <a:solidFill>
                  <a:srgbClr val="CBD5E1"/>
                </a:solidFill>
                <a:latin typeface="Arimo Italics"/>
                <a:ea typeface="Arimo Italics"/>
                <a:cs typeface="Arimo Italics"/>
                <a:sym typeface="Arimo Italics"/>
              </a:rPr>
              <a:t>because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of it.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58450" y="5543550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Explosive startup growth &amp; fintech momentum.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58450" y="6229350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Energized youth population consuming video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58450" y="6915150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Government push for digital transformation.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58450" y="7600950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Young investors entering markets faster than ever.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57250" y="3760513"/>
            <a:ext cx="7858125" cy="4166145"/>
            <a:chOff x="0" y="0"/>
            <a:chExt cx="10477500" cy="555486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5554853"/>
            </a:xfrm>
            <a:custGeom>
              <a:avLst/>
              <a:gdLst/>
              <a:ahLst/>
              <a:cxnLst/>
              <a:rect r="r" b="b" t="t" l="l"/>
              <a:pathLst>
                <a:path h="5554853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3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572625" y="3760513"/>
            <a:ext cx="7858125" cy="4166145"/>
            <a:chOff x="0" y="0"/>
            <a:chExt cx="10477500" cy="555486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5554853"/>
            </a:xfrm>
            <a:custGeom>
              <a:avLst/>
              <a:gdLst/>
              <a:ahLst/>
              <a:cxnLst/>
              <a:rect r="r" b="b" t="t" l="l"/>
              <a:pathLst>
                <a:path h="5554853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3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00162" y="5498826"/>
            <a:ext cx="732091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For Founders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0162" y="6117951"/>
            <a:ext cx="6972300" cy="141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Direct e</a:t>
            </a: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xposure to investors from all backgrounds. Pitch authentically and get notified when serious investors unlock your 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15538" y="5498826"/>
            <a:ext cx="732091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For Investors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15538" y="6117951"/>
            <a:ext cx="6972300" cy="96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Radically simplified discovery. Avoid fatigue, get personalized dealflow, and explore with familiar gestures.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00162" y="4403451"/>
            <a:ext cx="685800" cy="685800"/>
            <a:chOff x="0" y="0"/>
            <a:chExt cx="914400" cy="914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083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0015538" y="4403451"/>
            <a:ext cx="685800" cy="685800"/>
            <a:chOff x="0" y="0"/>
            <a:chExt cx="9144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08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0150" y="828675"/>
            <a:ext cx="1704213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Value for Everyone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250" y="857250"/>
            <a:ext cx="71438" cy="828675"/>
            <a:chOff x="0" y="0"/>
            <a:chExt cx="95250" cy="1104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0B98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57250" y="3760513"/>
            <a:ext cx="5238823" cy="4166145"/>
            <a:chOff x="0" y="0"/>
            <a:chExt cx="6985098" cy="555486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524698" y="3760513"/>
            <a:ext cx="5238823" cy="4166145"/>
            <a:chOff x="0" y="0"/>
            <a:chExt cx="6985098" cy="555486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22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192148" y="3760513"/>
            <a:ext cx="5238823" cy="4166145"/>
            <a:chOff x="0" y="0"/>
            <a:chExt cx="6985098" cy="555486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5554853"/>
            </a:xfrm>
            <a:custGeom>
              <a:avLst/>
              <a:gdLst/>
              <a:ahLst/>
              <a:cxnLst/>
              <a:rect r="r" b="b" t="t" l="l"/>
              <a:pathLst>
                <a:path h="5554853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5554853"/>
                  </a:lnTo>
                  <a:lnTo>
                    <a:pt x="0" y="5554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2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91338" y="5498826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Founder Fees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162" y="6117951"/>
            <a:ext cx="4352998" cy="96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Onboarding fee + Monthly subscription for visibility and analytics.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786" y="5498826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Investor Commissions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7611" y="6117951"/>
            <a:ext cx="4352998" cy="96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Success fees when allocations happen through regulated partners.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26236" y="5498826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Network Effect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5061" y="6117951"/>
            <a:ext cx="4352998" cy="96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More swipes = Smarter AI = More valuable marketplace.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3219375" y="4403451"/>
            <a:ext cx="514350" cy="685800"/>
            <a:chOff x="0" y="0"/>
            <a:chExt cx="6858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85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680" b="0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8715375" y="4403451"/>
            <a:ext cx="857250" cy="685800"/>
            <a:chOff x="0" y="0"/>
            <a:chExt cx="11430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143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09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4468548" y="4403451"/>
            <a:ext cx="685800" cy="685800"/>
            <a:chOff x="0" y="0"/>
            <a:chExt cx="914400" cy="914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0150" y="828675"/>
            <a:ext cx="1704213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Business Model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250" y="857250"/>
            <a:ext cx="71438" cy="828675"/>
            <a:chOff x="0" y="0"/>
            <a:chExt cx="95250" cy="1104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0B98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57250" y="3308895"/>
            <a:ext cx="5238823" cy="3468960"/>
            <a:chOff x="0" y="0"/>
            <a:chExt cx="6985098" cy="462528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4625340"/>
            </a:xfrm>
            <a:custGeom>
              <a:avLst/>
              <a:gdLst/>
              <a:ahLst/>
              <a:cxnLst/>
              <a:rect r="r" b="b" t="t" l="l"/>
              <a:pathLst>
                <a:path h="462534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4625340"/>
                  </a:lnTo>
                  <a:lnTo>
                    <a:pt x="0" y="4625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04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524698" y="3308895"/>
            <a:ext cx="5238823" cy="3468960"/>
            <a:chOff x="0" y="0"/>
            <a:chExt cx="6985098" cy="462528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4625340"/>
            </a:xfrm>
            <a:custGeom>
              <a:avLst/>
              <a:gdLst/>
              <a:ahLst/>
              <a:cxnLst/>
              <a:rect r="r" b="b" t="t" l="l"/>
              <a:pathLst>
                <a:path h="462534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4625340"/>
                  </a:lnTo>
                  <a:lnTo>
                    <a:pt x="0" y="4625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31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192148" y="3308895"/>
            <a:ext cx="5238823" cy="3468960"/>
            <a:chOff x="0" y="0"/>
            <a:chExt cx="6985098" cy="462528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4625340"/>
            </a:xfrm>
            <a:custGeom>
              <a:avLst/>
              <a:gdLst/>
              <a:ahLst/>
              <a:cxnLst/>
              <a:rect r="r" b="b" t="t" l="l"/>
              <a:pathLst>
                <a:path h="462534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4625340"/>
                  </a:lnTo>
                  <a:lnTo>
                    <a:pt x="0" y="4625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3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7463655"/>
            <a:ext cx="165735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 i="true">
                <a:solidFill>
                  <a:srgbClr val="94A3B8"/>
                </a:solidFill>
                <a:latin typeface="Arimo Italics"/>
                <a:ea typeface="Arimo Italics"/>
                <a:cs typeface="Arimo Italics"/>
                <a:sym typeface="Arimo Italics"/>
              </a:rPr>
              <a:t>"Investment execution happens through regulated partners, allowing us to scale safely."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1338" y="4761458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Phase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162" y="5380583"/>
            <a:ext cx="4352998" cy="55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MVP Launch &amp; AI Training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786" y="4761458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Phase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67611" y="5380583"/>
            <a:ext cx="4352998" cy="55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Fintech Sandbox Entry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26236" y="4761458"/>
            <a:ext cx="45706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Phase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35061" y="5380583"/>
            <a:ext cx="4352998" cy="55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Regional Expansion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3190800" y="3923257"/>
            <a:ext cx="571500" cy="457200"/>
            <a:chOff x="0" y="0"/>
            <a:chExt cx="762000" cy="6096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76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609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915400" y="3923257"/>
            <a:ext cx="457200" cy="457200"/>
            <a:chOff x="0" y="0"/>
            <a:chExt cx="609600" cy="6096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4582848" y="3923257"/>
            <a:ext cx="457200" cy="457200"/>
            <a:chOff x="0" y="0"/>
            <a:chExt cx="609600" cy="6096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00150" y="828675"/>
            <a:ext cx="1704213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Roadmap to Scale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7250" y="857250"/>
            <a:ext cx="71438" cy="828675"/>
            <a:chOff x="0" y="0"/>
            <a:chExt cx="95250" cy="11049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0B98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35780" y="3167062"/>
            <a:ext cx="13501688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0"/>
              </a:lnSpc>
            </a:pPr>
            <a:r>
              <a:rPr lang="en-US" b="true" sz="90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Not Just a Feature.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5780" y="4948238"/>
            <a:ext cx="13501688" cy="90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b="true" sz="5625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A New Category of Financial Interaction.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700462" y="6429375"/>
            <a:ext cx="1671638" cy="557212"/>
            <a:chOff x="0" y="0"/>
            <a:chExt cx="2228850" cy="7429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8850" cy="742950"/>
            </a:xfrm>
            <a:custGeom>
              <a:avLst/>
              <a:gdLst/>
              <a:ahLst/>
              <a:cxnLst/>
              <a:rect r="r" b="b" t="t" l="l"/>
              <a:pathLst>
                <a:path h="74295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657850" y="6429375"/>
            <a:ext cx="2214562" cy="557212"/>
            <a:chOff x="0" y="0"/>
            <a:chExt cx="2952750" cy="7429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952750" cy="742950"/>
            </a:xfrm>
            <a:custGeom>
              <a:avLst/>
              <a:gdLst/>
              <a:ahLst/>
              <a:cxnLst/>
              <a:rect r="r" b="b" t="t" l="l"/>
              <a:pathLst>
                <a:path h="742950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158162" y="6429375"/>
            <a:ext cx="2714625" cy="557212"/>
            <a:chOff x="0" y="0"/>
            <a:chExt cx="3619500" cy="7429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619500" cy="742950"/>
            </a:xfrm>
            <a:custGeom>
              <a:avLst/>
              <a:gdLst/>
              <a:ahLst/>
              <a:cxnLst/>
              <a:rect r="r" b="b" t="t" l="l"/>
              <a:pathLst>
                <a:path h="74295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088880" y="0"/>
            <a:ext cx="3155946" cy="1286048"/>
          </a:xfrm>
          <a:custGeom>
            <a:avLst/>
            <a:gdLst/>
            <a:ahLst/>
            <a:cxnLst/>
            <a:rect r="r" b="b" t="t" l="l"/>
            <a:pathLst>
              <a:path h="1286048" w="3155946">
                <a:moveTo>
                  <a:pt x="0" y="0"/>
                </a:moveTo>
                <a:lnTo>
                  <a:pt x="3155946" y="0"/>
                </a:lnTo>
                <a:lnTo>
                  <a:pt x="3155946" y="1286048"/>
                </a:lnTo>
                <a:lnTo>
                  <a:pt x="0" y="1286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073531" y="8543925"/>
            <a:ext cx="12171295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3"/>
              </a:lnSpc>
            </a:pPr>
            <a:r>
              <a:rPr lang="en-US" b="true" sz="4511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https://github.com/RazakAajil/pitchswipe-dev-guide.git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7310" y="7367587"/>
            <a:ext cx="1163737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0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gihub: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DAG7NTnpkr4</dc:identifier>
  <dcterms:modified xsi:type="dcterms:W3CDTF">2011-08-01T06:04:30Z</dcterms:modified>
  <cp:revision>1</cp:revision>
  <dc:title>PitchSwipe Deck.pptx</dc:title>
</cp:coreProperties>
</file>